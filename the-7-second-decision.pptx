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" r:id="rId2"/>
    <p:sldId id="257" r:id="rId3"/>
    <p:sldId id="258" r:id="rId4"/>
    <p:sldId id="260" r:id="rId5"/>
    <p:sldId id="261" r:id="rId6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>
        <p:scale>
          <a:sx n="50" d="100"/>
          <a:sy n="50" d="100"/>
        </p:scale>
        <p:origin x="2208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45D023-F573-4FE0-8E80-197B57EF6CA2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501886-1E0B-48D0-9A5F-4DBB76533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519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E3631-3801-466A-B8B9-29D9C255CC4B}" type="datetime1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4D8B-A007-43A6-9152-9F7C16883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535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B4E23-9CB6-40C9-A898-3DFBE42B7F41}" type="datetime1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4D8B-A007-43A6-9152-9F7C16883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513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4FF0D-8D35-41F7-8CE7-15ECCD0F76A8}" type="datetime1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4D8B-A007-43A6-9152-9F7C16883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423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032E7-0710-44D8-A111-5110C61B41FD}" type="datetime1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4D8B-A007-43A6-9152-9F7C16883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864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96516-174F-4206-97C2-743721F1DAD0}" type="datetime1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4D8B-A007-43A6-9152-9F7C16883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12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F8C5F-F6D1-4710-8568-BC867F78C57F}" type="datetime1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4D8B-A007-43A6-9152-9F7C16883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690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D0C26-8E9D-41E1-8A8E-BE03DF95EAF5}" type="datetime1">
              <a:rPr lang="en-US" smtClean="0"/>
              <a:t>1/8/2026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4D8B-A007-43A6-9152-9F7C16883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404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F363E-D2CF-4E0E-8F3D-B8A3680A4938}" type="datetime1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4D8B-A007-43A6-9152-9F7C16883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160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D7390-84B5-4FBA-86CC-3A96AF4CBB12}" type="datetime1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4D8B-A007-43A6-9152-9F7C16883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175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2A31E-D683-4D74-A06A-08593787AF50}" type="datetime1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4D8B-A007-43A6-9152-9F7C16883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274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AE4DC-A215-43D5-95D9-03322F7E63D1}" type="datetime1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4D8B-A007-43A6-9152-9F7C16883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256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7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499D2B-9B77-47E1-82CA-92A2F0525937}" type="datetime1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F4D8B-A007-43A6-9152-9F7C16883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820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arkisconnects.com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7A37D2-CF70-97A4-B08B-00F0B7B0B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10163" y="8417986"/>
            <a:ext cx="1543050" cy="486833"/>
          </a:xfrm>
        </p:spPr>
        <p:txBody>
          <a:bodyPr/>
          <a:lstStyle/>
          <a:p>
            <a:r>
              <a:rPr lang="en-US" dirty="0"/>
              <a:t>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F53D8F-9CD3-6BB8-D552-E6A2F7F5B7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81924" y="-170481"/>
            <a:ext cx="7950630" cy="9965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129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C3E336-5F06-2A2D-4D63-69EDF289C6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1232" y="123986"/>
            <a:ext cx="597653" cy="59765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01AB178-D123-B548-3790-B24E0C86BE95}"/>
              </a:ext>
            </a:extLst>
          </p:cNvPr>
          <p:cNvSpPr txBox="1"/>
          <p:nvPr/>
        </p:nvSpPr>
        <p:spPr>
          <a:xfrm>
            <a:off x="155251" y="1022888"/>
            <a:ext cx="6547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“Ever wondered why you sometimes click ‘Buy’ without thinking?”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EE45B7-B577-8C8A-911C-1FC0CDB77E28}"/>
              </a:ext>
            </a:extLst>
          </p:cNvPr>
          <p:cNvSpPr txBox="1"/>
          <p:nvPr/>
        </p:nvSpPr>
        <p:spPr>
          <a:xfrm>
            <a:off x="356595" y="2215545"/>
            <a:ext cx="6144810" cy="535531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i="1" spc="3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There’s a tiny trick your brain does every day, without you realizing it.</a:t>
            </a:r>
          </a:p>
          <a:p>
            <a:pPr algn="ctr"/>
            <a:endParaRPr lang="en-US" i="1" spc="3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endParaRPr lang="en-US" i="1" spc="3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endParaRPr lang="en-US" i="1" spc="3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endParaRPr lang="en-US" dirty="0"/>
          </a:p>
          <a:p>
            <a:pPr algn="ctr"/>
            <a:r>
              <a:rPr lang="en-US" i="1" spc="300" dirty="0">
                <a:solidFill>
                  <a:schemeClr val="bg1"/>
                </a:solidFill>
              </a:rPr>
              <a:t>It’s so subtle that even experts in marketing and psychology rarely notice it. Yet it’s everywhere even in ads, in apps, even when you buy data online.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sz="2400" b="1" i="1" u="sng" spc="300" dirty="0"/>
              <a:t>This e-book will show you exactly what it is and why it works on you more than you think.</a:t>
            </a:r>
          </a:p>
          <a:p>
            <a:pPr algn="ctr"/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09FEF4-1874-5990-6B34-FB88C2167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4D8B-A007-43A6-9152-9F7C1688393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293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68D3B8F-702B-318F-D3CC-4B219266F7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1232" y="123986"/>
            <a:ext cx="597653" cy="59765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B086AB-A58B-452C-E3ED-7E083AFDCC1A}"/>
              </a:ext>
            </a:extLst>
          </p:cNvPr>
          <p:cNvSpPr txBox="1"/>
          <p:nvPr/>
        </p:nvSpPr>
        <p:spPr>
          <a:xfrm>
            <a:off x="2293749" y="1038387"/>
            <a:ext cx="2644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“The 7 - Second Decision”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D5DF15-2110-E9A5-45E6-665169A81644}"/>
              </a:ext>
            </a:extLst>
          </p:cNvPr>
          <p:cNvSpPr txBox="1"/>
          <p:nvPr/>
        </p:nvSpPr>
        <p:spPr>
          <a:xfrm>
            <a:off x="340963" y="2448342"/>
            <a:ext cx="6121830" cy="627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i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Here’s the secret:</a:t>
            </a:r>
          </a:p>
          <a:p>
            <a:pPr algn="ctr">
              <a:buNone/>
            </a:pPr>
            <a:r>
              <a:rPr lang="en-US" b="1" dirty="0"/>
              <a:t>Your brain is wired to avoid decision fatigue.</a:t>
            </a:r>
            <a:br>
              <a:rPr lang="en-US" b="1" dirty="0"/>
            </a:br>
            <a:r>
              <a:rPr lang="en-US" dirty="0"/>
              <a:t>When an offer is small, simple, and quick, your mind says:</a:t>
            </a:r>
          </a:p>
          <a:p>
            <a:pPr algn="ctr">
              <a:buNone/>
            </a:pPr>
            <a:br>
              <a:rPr lang="en-US" dirty="0"/>
            </a:br>
            <a:r>
              <a:rPr lang="en-US" i="1" dirty="0"/>
              <a:t>“</a:t>
            </a:r>
            <a:r>
              <a:rPr lang="en-US" i="1" dirty="0">
                <a:solidFill>
                  <a:schemeClr val="bg1"/>
                </a:solidFill>
              </a:rPr>
              <a:t>It’s cheap, why not?</a:t>
            </a:r>
            <a:r>
              <a:rPr lang="en-US" i="1" dirty="0"/>
              <a:t>”</a:t>
            </a:r>
          </a:p>
          <a:p>
            <a:pPr algn="ctr">
              <a:buNone/>
            </a:pPr>
            <a:endParaRPr lang="en-US" i="1" dirty="0"/>
          </a:p>
          <a:p>
            <a:pPr algn="ctr">
              <a:buNone/>
            </a:pPr>
            <a:endParaRPr lang="en-US" i="1" dirty="0"/>
          </a:p>
          <a:p>
            <a:pPr algn="ctr">
              <a:buNone/>
            </a:pPr>
            <a:endParaRPr lang="en-US" dirty="0"/>
          </a:p>
          <a:p>
            <a:pPr algn="ctr">
              <a:buNone/>
            </a:pPr>
            <a:r>
              <a:rPr lang="en-US" b="1" i="1" spc="300" dirty="0"/>
              <a:t>THAT’S WHY PEOPLE CLICK, PAY, OR DOWNLOAD ALMOST INSTANTLY. THEY ARE DRIVEN BY:</a:t>
            </a:r>
          </a:p>
          <a:p>
            <a:pPr algn="ctr">
              <a:buNone/>
            </a:pPr>
            <a:endParaRPr lang="en-US" b="1" i="1" spc="300" dirty="0"/>
          </a:p>
          <a:p>
            <a:pPr algn="ctr">
              <a:buNone/>
            </a:pPr>
            <a:endParaRPr lang="en-US" b="1" i="1" spc="3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</a:rPr>
              <a:t>Curiosity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</a:rPr>
              <a:t>Low risk (it’s cheap)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</a:rPr>
              <a:t>FOMO (“I might miss this”)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algn="ctr">
              <a:buNone/>
            </a:pPr>
            <a:r>
              <a:rPr lang="en-US" dirty="0"/>
              <a:t>Even professionals fall for this every day. </a:t>
            </a:r>
          </a:p>
          <a:p>
            <a:pPr algn="ctr">
              <a:buNone/>
            </a:pPr>
            <a:endParaRPr lang="en-US" dirty="0"/>
          </a:p>
          <a:p>
            <a:pPr algn="ctr">
              <a:buNone/>
            </a:pPr>
            <a:r>
              <a:rPr lang="en-US" dirty="0"/>
              <a:t>It’s not about the product, it’s about the </a:t>
            </a:r>
            <a:r>
              <a:rPr lang="en-US" b="1" dirty="0">
                <a:solidFill>
                  <a:schemeClr val="accent1"/>
                </a:solidFill>
              </a:rPr>
              <a:t>moment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6A3F5-B718-9830-AAD0-8E7279A3D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4D8B-A007-43A6-9152-9F7C1688393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211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70C218F-53F1-6093-88A2-88598C181B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1232" y="123986"/>
            <a:ext cx="597653" cy="59765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9AAD835-4CCD-FBFE-7BAC-FF466A20C44C}"/>
              </a:ext>
            </a:extLst>
          </p:cNvPr>
          <p:cNvSpPr txBox="1"/>
          <p:nvPr/>
        </p:nvSpPr>
        <p:spPr>
          <a:xfrm>
            <a:off x="1917915" y="976392"/>
            <a:ext cx="31035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“Now, here’s what you can do”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DD7BDA-5373-DDA7-259E-164E049FC7DD}"/>
              </a:ext>
            </a:extLst>
          </p:cNvPr>
          <p:cNvSpPr txBox="1"/>
          <p:nvPr/>
        </p:nvSpPr>
        <p:spPr>
          <a:xfrm>
            <a:off x="408768" y="2231756"/>
            <a:ext cx="612183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Whenever you see something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 S</a:t>
            </a:r>
            <a:r>
              <a:rPr lang="en-US" dirty="0"/>
              <a:t>mall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Cheap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Intriguing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algn="ctr"/>
            <a:r>
              <a:rPr lang="en-US" dirty="0"/>
              <a:t>   Just notice your brain’s reaction. That’s the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7 - Second Decision</a:t>
            </a:r>
            <a:r>
              <a:rPr lang="en-US" dirty="0"/>
              <a:t> in action.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endParaRPr lang="en-US" dirty="0"/>
          </a:p>
          <a:p>
            <a:r>
              <a:rPr lang="en-US" b="1" dirty="0"/>
              <a:t>And if you liked this insight</a:t>
            </a:r>
            <a:r>
              <a:rPr lang="en-US" dirty="0"/>
              <a:t>, there’s more where it came from.</a:t>
            </a:r>
          </a:p>
          <a:p>
            <a:r>
              <a:rPr lang="en-US" dirty="0"/>
              <a:t>Just pay </a:t>
            </a:r>
            <a:r>
              <a:rPr lang="en-US" b="1" dirty="0"/>
              <a:t>GHS 1.00</a:t>
            </a:r>
            <a:r>
              <a:rPr lang="en-US" dirty="0"/>
              <a:t> and get instant access to more micro-eBooks that </a:t>
            </a:r>
            <a:r>
              <a:rPr lang="en-US" dirty="0">
                <a:highlight>
                  <a:srgbClr val="00FFFF"/>
                </a:highlight>
              </a:rPr>
              <a:t>reveal hidden truths</a:t>
            </a:r>
            <a:r>
              <a:rPr lang="en-US" dirty="0"/>
              <a:t> about: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Online behavior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Psychology, and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Small hacks that influence everyday decisions.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5CD977-CCFA-D0D5-6BE9-F11A8D4F6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4D8B-A007-43A6-9152-9F7C1688393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965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3CA029-6F1A-6300-726D-68735310AB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1959" y="-433953"/>
            <a:ext cx="7625166" cy="1033736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DF86B6F-D2AD-BFB8-0273-7AF76C2FD30A}"/>
              </a:ext>
            </a:extLst>
          </p:cNvPr>
          <p:cNvSpPr txBox="1"/>
          <p:nvPr/>
        </p:nvSpPr>
        <p:spPr>
          <a:xfrm>
            <a:off x="604434" y="8369085"/>
            <a:ext cx="5940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Visit </a:t>
            </a:r>
            <a:r>
              <a:rPr lang="en-US" dirty="0">
                <a:hlinkClick r:id="rId3"/>
              </a:rPr>
              <a:t>www.markisconnects.com</a:t>
            </a:r>
            <a:r>
              <a:rPr lang="en-US" dirty="0"/>
              <a:t> For more Micro eBooks Today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7C0950-A055-9197-7122-C9068A751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4D8B-A007-43A6-9152-9F7C1688393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454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38</TotalTime>
  <Words>268</Words>
  <Application>Microsoft Office PowerPoint</Application>
  <PresentationFormat>Letter Paper (8.5x11 in)</PresentationFormat>
  <Paragraphs>57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Seidu Fatima</dc:creator>
  <cp:lastModifiedBy>Seidu Fatima</cp:lastModifiedBy>
  <cp:revision>3</cp:revision>
  <dcterms:created xsi:type="dcterms:W3CDTF">2026-01-08T18:51:41Z</dcterms:created>
  <dcterms:modified xsi:type="dcterms:W3CDTF">2026-01-08T19:31:31Z</dcterms:modified>
</cp:coreProperties>
</file>